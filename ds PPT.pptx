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773406-12D8-7D0E-D2BF-BF8966AEFFB1}" v="485" dt="2025-01-14T07:41:37.8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 CHETAN RIKHIL" userId="S::22b81a0575@cvr.ac.in::5a2f941f-4cbe-45fc-98f3-663418899eb6" providerId="AD" clId="Web-{59773406-12D8-7D0E-D2BF-BF8966AEFFB1}"/>
    <pc:docChg chg="modSld">
      <pc:chgData name="T CHETAN RIKHIL" userId="S::22b81a0575@cvr.ac.in::5a2f941f-4cbe-45fc-98f3-663418899eb6" providerId="AD" clId="Web-{59773406-12D8-7D0E-D2BF-BF8966AEFFB1}" dt="2025-01-14T07:41:37.868" v="283" actId="14100"/>
      <pc:docMkLst>
        <pc:docMk/>
      </pc:docMkLst>
      <pc:sldChg chg="modSp">
        <pc:chgData name="T CHETAN RIKHIL" userId="S::22b81a0575@cvr.ac.in::5a2f941f-4cbe-45fc-98f3-663418899eb6" providerId="AD" clId="Web-{59773406-12D8-7D0E-D2BF-BF8966AEFFB1}" dt="2025-01-14T07:28:47.919" v="201" actId="20577"/>
        <pc:sldMkLst>
          <pc:docMk/>
          <pc:sldMk cId="1199382553" sldId="257"/>
        </pc:sldMkLst>
        <pc:spChg chg="mod">
          <ac:chgData name="T CHETAN RIKHIL" userId="S::22b81a0575@cvr.ac.in::5a2f941f-4cbe-45fc-98f3-663418899eb6" providerId="AD" clId="Web-{59773406-12D8-7D0E-D2BF-BF8966AEFFB1}" dt="2025-01-14T07:28:47.919" v="201" actId="20577"/>
          <ac:spMkLst>
            <pc:docMk/>
            <pc:sldMk cId="1199382553" sldId="257"/>
            <ac:spMk id="6" creationId="{45A235A5-F944-91BB-7101-7A4C3DB99527}"/>
          </ac:spMkLst>
        </pc:spChg>
      </pc:sldChg>
      <pc:sldChg chg="delSp modSp">
        <pc:chgData name="T CHETAN RIKHIL" userId="S::22b81a0575@cvr.ac.in::5a2f941f-4cbe-45fc-98f3-663418899eb6" providerId="AD" clId="Web-{59773406-12D8-7D0E-D2BF-BF8966AEFFB1}" dt="2025-01-14T07:38:09.798" v="260" actId="20577"/>
        <pc:sldMkLst>
          <pc:docMk/>
          <pc:sldMk cId="358404018" sldId="258"/>
        </pc:sldMkLst>
        <pc:spChg chg="del mod">
          <ac:chgData name="T CHETAN RIKHIL" userId="S::22b81a0575@cvr.ac.in::5a2f941f-4cbe-45fc-98f3-663418899eb6" providerId="AD" clId="Web-{59773406-12D8-7D0E-D2BF-BF8966AEFFB1}" dt="2025-01-14T07:29:11.045" v="206"/>
          <ac:spMkLst>
            <pc:docMk/>
            <pc:sldMk cId="358404018" sldId="258"/>
            <ac:spMk id="4" creationId="{F425512F-1372-A30F-A592-B1D6E9629C49}"/>
          </ac:spMkLst>
        </pc:spChg>
        <pc:spChg chg="mod">
          <ac:chgData name="T CHETAN RIKHIL" userId="S::22b81a0575@cvr.ac.in::5a2f941f-4cbe-45fc-98f3-663418899eb6" providerId="AD" clId="Web-{59773406-12D8-7D0E-D2BF-BF8966AEFFB1}" dt="2025-01-14T07:38:09.798" v="260" actId="20577"/>
          <ac:spMkLst>
            <pc:docMk/>
            <pc:sldMk cId="358404018" sldId="258"/>
            <ac:spMk id="5" creationId="{11D5E291-C71D-8105-C11B-DB22E7995275}"/>
          </ac:spMkLst>
        </pc:spChg>
      </pc:sldChg>
      <pc:sldChg chg="modSp">
        <pc:chgData name="T CHETAN RIKHIL" userId="S::22b81a0575@cvr.ac.in::5a2f941f-4cbe-45fc-98f3-663418899eb6" providerId="AD" clId="Web-{59773406-12D8-7D0E-D2BF-BF8966AEFFB1}" dt="2025-01-14T07:38:02.626" v="259" actId="20577"/>
        <pc:sldMkLst>
          <pc:docMk/>
          <pc:sldMk cId="529124256" sldId="259"/>
        </pc:sldMkLst>
        <pc:spChg chg="mod">
          <ac:chgData name="T CHETAN RIKHIL" userId="S::22b81a0575@cvr.ac.in::5a2f941f-4cbe-45fc-98f3-663418899eb6" providerId="AD" clId="Web-{59773406-12D8-7D0E-D2BF-BF8966AEFFB1}" dt="2025-01-14T07:38:02.626" v="259" actId="20577"/>
          <ac:spMkLst>
            <pc:docMk/>
            <pc:sldMk cId="529124256" sldId="259"/>
            <ac:spMk id="4" creationId="{029B59B2-1FCA-1FD4-A0B4-AF6A04D1D958}"/>
          </ac:spMkLst>
        </pc:spChg>
        <pc:picChg chg="mod">
          <ac:chgData name="T CHETAN RIKHIL" userId="S::22b81a0575@cvr.ac.in::5a2f941f-4cbe-45fc-98f3-663418899eb6" providerId="AD" clId="Web-{59773406-12D8-7D0E-D2BF-BF8966AEFFB1}" dt="2025-01-14T07:10:25.568" v="0" actId="14100"/>
          <ac:picMkLst>
            <pc:docMk/>
            <pc:sldMk cId="529124256" sldId="259"/>
            <ac:picMk id="5" creationId="{BAF0AFAA-0562-5B06-28FF-36C50C902D66}"/>
          </ac:picMkLst>
        </pc:picChg>
      </pc:sldChg>
      <pc:sldChg chg="addSp modSp">
        <pc:chgData name="T CHETAN RIKHIL" userId="S::22b81a0575@cvr.ac.in::5a2f941f-4cbe-45fc-98f3-663418899eb6" providerId="AD" clId="Web-{59773406-12D8-7D0E-D2BF-BF8966AEFFB1}" dt="2025-01-14T07:37:56.985" v="257" actId="20577"/>
        <pc:sldMkLst>
          <pc:docMk/>
          <pc:sldMk cId="412365381" sldId="260"/>
        </pc:sldMkLst>
        <pc:spChg chg="mod">
          <ac:chgData name="T CHETAN RIKHIL" userId="S::22b81a0575@cvr.ac.in::5a2f941f-4cbe-45fc-98f3-663418899eb6" providerId="AD" clId="Web-{59773406-12D8-7D0E-D2BF-BF8966AEFFB1}" dt="2025-01-14T07:37:51.501" v="256" actId="20577"/>
          <ac:spMkLst>
            <pc:docMk/>
            <pc:sldMk cId="412365381" sldId="260"/>
            <ac:spMk id="4" creationId="{202C7886-D96B-21E6-3322-5B4778FB5DA7}"/>
          </ac:spMkLst>
        </pc:spChg>
        <pc:spChg chg="mod">
          <ac:chgData name="T CHETAN RIKHIL" userId="S::22b81a0575@cvr.ac.in::5a2f941f-4cbe-45fc-98f3-663418899eb6" providerId="AD" clId="Web-{59773406-12D8-7D0E-D2BF-BF8966AEFFB1}" dt="2025-01-14T07:37:56.985" v="257" actId="20577"/>
          <ac:spMkLst>
            <pc:docMk/>
            <pc:sldMk cId="412365381" sldId="260"/>
            <ac:spMk id="5" creationId="{3F1BEC3A-172D-5F95-E7B5-84177A41A579}"/>
          </ac:spMkLst>
        </pc:spChg>
        <pc:picChg chg="add mod">
          <ac:chgData name="T CHETAN RIKHIL" userId="S::22b81a0575@cvr.ac.in::5a2f941f-4cbe-45fc-98f3-663418899eb6" providerId="AD" clId="Web-{59773406-12D8-7D0E-D2BF-BF8966AEFFB1}" dt="2025-01-14T07:36:35.576" v="251" actId="1076"/>
          <ac:picMkLst>
            <pc:docMk/>
            <pc:sldMk cId="412365381" sldId="260"/>
            <ac:picMk id="2" creationId="{3ED78E3D-26AF-B2F7-567F-1D22F9644704}"/>
          </ac:picMkLst>
        </pc:picChg>
      </pc:sldChg>
      <pc:sldChg chg="addSp modSp">
        <pc:chgData name="T CHETAN RIKHIL" userId="S::22b81a0575@cvr.ac.in::5a2f941f-4cbe-45fc-98f3-663418899eb6" providerId="AD" clId="Web-{59773406-12D8-7D0E-D2BF-BF8966AEFFB1}" dt="2025-01-14T07:38:25.236" v="262" actId="20577"/>
        <pc:sldMkLst>
          <pc:docMk/>
          <pc:sldMk cId="2327801924" sldId="261"/>
        </pc:sldMkLst>
        <pc:spChg chg="add mod">
          <ac:chgData name="T CHETAN RIKHIL" userId="S::22b81a0575@cvr.ac.in::5a2f941f-4cbe-45fc-98f3-663418899eb6" providerId="AD" clId="Web-{59773406-12D8-7D0E-D2BF-BF8966AEFFB1}" dt="2025-01-14T07:38:25.236" v="262" actId="20577"/>
          <ac:spMkLst>
            <pc:docMk/>
            <pc:sldMk cId="2327801924" sldId="261"/>
            <ac:spMk id="2" creationId="{40DDC242-2784-DA09-71C9-40F9794C43BB}"/>
          </ac:spMkLst>
        </pc:spChg>
        <pc:spChg chg="mod">
          <ac:chgData name="T CHETAN RIKHIL" userId="S::22b81a0575@cvr.ac.in::5a2f941f-4cbe-45fc-98f3-663418899eb6" providerId="AD" clId="Web-{59773406-12D8-7D0E-D2BF-BF8966AEFFB1}" dt="2025-01-14T07:38:19.767" v="261" actId="20577"/>
          <ac:spMkLst>
            <pc:docMk/>
            <pc:sldMk cId="2327801924" sldId="261"/>
            <ac:spMk id="4" creationId="{01BCA2EB-8EBC-C346-A4C3-39EBDE2594F8}"/>
          </ac:spMkLst>
        </pc:spChg>
      </pc:sldChg>
      <pc:sldChg chg="addSp modSp">
        <pc:chgData name="T CHETAN RIKHIL" userId="S::22b81a0575@cvr.ac.in::5a2f941f-4cbe-45fc-98f3-663418899eb6" providerId="AD" clId="Web-{59773406-12D8-7D0E-D2BF-BF8966AEFFB1}" dt="2025-01-14T07:41:27.524" v="281" actId="1076"/>
        <pc:sldMkLst>
          <pc:docMk/>
          <pc:sldMk cId="1231317865" sldId="262"/>
        </pc:sldMkLst>
        <pc:spChg chg="mod">
          <ac:chgData name="T CHETAN RIKHIL" userId="S::22b81a0575@cvr.ac.in::5a2f941f-4cbe-45fc-98f3-663418899eb6" providerId="AD" clId="Web-{59773406-12D8-7D0E-D2BF-BF8966AEFFB1}" dt="2025-01-14T07:41:24.055" v="280" actId="1076"/>
          <ac:spMkLst>
            <pc:docMk/>
            <pc:sldMk cId="1231317865" sldId="262"/>
            <ac:spMk id="2" creationId="{109F770F-A5EB-2D9C-CAD0-927E74605EEC}"/>
          </ac:spMkLst>
        </pc:spChg>
        <pc:spChg chg="add mod">
          <ac:chgData name="T CHETAN RIKHIL" userId="S::22b81a0575@cvr.ac.in::5a2f941f-4cbe-45fc-98f3-663418899eb6" providerId="AD" clId="Web-{59773406-12D8-7D0E-D2BF-BF8966AEFFB1}" dt="2025-01-14T07:41:27.524" v="281" actId="1076"/>
          <ac:spMkLst>
            <pc:docMk/>
            <pc:sldMk cId="1231317865" sldId="262"/>
            <ac:spMk id="3" creationId="{EE99324F-A8DE-84DA-3FAD-4A2D21CF1857}"/>
          </ac:spMkLst>
        </pc:spChg>
      </pc:sldChg>
      <pc:sldChg chg="addSp delSp modSp">
        <pc:chgData name="T CHETAN RIKHIL" userId="S::22b81a0575@cvr.ac.in::5a2f941f-4cbe-45fc-98f3-663418899eb6" providerId="AD" clId="Web-{59773406-12D8-7D0E-D2BF-BF8966AEFFB1}" dt="2025-01-14T07:41:37.868" v="283" actId="14100"/>
        <pc:sldMkLst>
          <pc:docMk/>
          <pc:sldMk cId="2315992793" sldId="263"/>
        </pc:sldMkLst>
        <pc:spChg chg="del mod">
          <ac:chgData name="T CHETAN RIKHIL" userId="S::22b81a0575@cvr.ac.in::5a2f941f-4cbe-45fc-98f3-663418899eb6" providerId="AD" clId="Web-{59773406-12D8-7D0E-D2BF-BF8966AEFFB1}" dt="2025-01-14T07:18:17.287" v="132"/>
          <ac:spMkLst>
            <pc:docMk/>
            <pc:sldMk cId="2315992793" sldId="263"/>
            <ac:spMk id="2" creationId="{1F40F0C0-2F2A-1693-3A32-2B1CC44ECA91}"/>
          </ac:spMkLst>
        </pc:spChg>
        <pc:spChg chg="mod">
          <ac:chgData name="T CHETAN RIKHIL" userId="S::22b81a0575@cvr.ac.in::5a2f941f-4cbe-45fc-98f3-663418899eb6" providerId="AD" clId="Web-{59773406-12D8-7D0E-D2BF-BF8966AEFFB1}" dt="2025-01-14T07:37:46.923" v="255" actId="20577"/>
          <ac:spMkLst>
            <pc:docMk/>
            <pc:sldMk cId="2315992793" sldId="263"/>
            <ac:spMk id="3" creationId="{27C1290B-2D42-0CEF-D286-F6BE5DA0C0E3}"/>
          </ac:spMkLst>
        </pc:spChg>
        <pc:picChg chg="add del mod">
          <ac:chgData name="T CHETAN RIKHIL" userId="S::22b81a0575@cvr.ac.in::5a2f941f-4cbe-45fc-98f3-663418899eb6" providerId="AD" clId="Web-{59773406-12D8-7D0E-D2BF-BF8966AEFFB1}" dt="2025-01-14T07:27:14.103" v="189"/>
          <ac:picMkLst>
            <pc:docMk/>
            <pc:sldMk cId="2315992793" sldId="263"/>
            <ac:picMk id="4" creationId="{B30FC2A1-5C50-2FF9-1258-B0A6932C5FB9}"/>
          </ac:picMkLst>
        </pc:picChg>
        <pc:picChg chg="add mod">
          <ac:chgData name="T CHETAN RIKHIL" userId="S::22b81a0575@cvr.ac.in::5a2f941f-4cbe-45fc-98f3-663418899eb6" providerId="AD" clId="Web-{59773406-12D8-7D0E-D2BF-BF8966AEFFB1}" dt="2025-01-14T07:41:37.868" v="283" actId="14100"/>
          <ac:picMkLst>
            <pc:docMk/>
            <pc:sldMk cId="2315992793" sldId="263"/>
            <ac:picMk id="5" creationId="{4AD38403-A34D-1BF3-FEC4-B934EAE1F30E}"/>
          </ac:picMkLst>
        </pc:picChg>
      </pc:sldChg>
      <pc:sldChg chg="modSp">
        <pc:chgData name="T CHETAN RIKHIL" userId="S::22b81a0575@cvr.ac.in::5a2f941f-4cbe-45fc-98f3-663418899eb6" providerId="AD" clId="Web-{59773406-12D8-7D0E-D2BF-BF8966AEFFB1}" dt="2025-01-14T07:40:20.772" v="271" actId="1076"/>
        <pc:sldMkLst>
          <pc:docMk/>
          <pc:sldMk cId="976876641" sldId="264"/>
        </pc:sldMkLst>
        <pc:spChg chg="mod">
          <ac:chgData name="T CHETAN RIKHIL" userId="S::22b81a0575@cvr.ac.in::5a2f941f-4cbe-45fc-98f3-663418899eb6" providerId="AD" clId="Web-{59773406-12D8-7D0E-D2BF-BF8966AEFFB1}" dt="2025-01-14T07:40:01.787" v="265" actId="20577"/>
          <ac:spMkLst>
            <pc:docMk/>
            <pc:sldMk cId="976876641" sldId="264"/>
            <ac:spMk id="2" creationId="{C290C83C-C5C5-BDA6-6D09-48052A0EB113}"/>
          </ac:spMkLst>
        </pc:spChg>
        <pc:spChg chg="mod">
          <ac:chgData name="T CHETAN RIKHIL" userId="S::22b81a0575@cvr.ac.in::5a2f941f-4cbe-45fc-98f3-663418899eb6" providerId="AD" clId="Web-{59773406-12D8-7D0E-D2BF-BF8966AEFFB1}" dt="2025-01-14T07:40:06.381" v="267" actId="20577"/>
          <ac:spMkLst>
            <pc:docMk/>
            <pc:sldMk cId="976876641" sldId="264"/>
            <ac:spMk id="3" creationId="{7A3F9689-1605-239B-86EC-4E7BBEF1D977}"/>
          </ac:spMkLst>
        </pc:spChg>
        <pc:spChg chg="mod">
          <ac:chgData name="T CHETAN RIKHIL" userId="S::22b81a0575@cvr.ac.in::5a2f941f-4cbe-45fc-98f3-663418899eb6" providerId="AD" clId="Web-{59773406-12D8-7D0E-D2BF-BF8966AEFFB1}" dt="2025-01-14T07:40:20.772" v="271" actId="1076"/>
          <ac:spMkLst>
            <pc:docMk/>
            <pc:sldMk cId="976876641" sldId="264"/>
            <ac:spMk id="4" creationId="{DF127CB3-68F5-7880-D239-7B375D6306A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4BE674-524A-92B9-8207-82866EDB73DD}"/>
              </a:ext>
            </a:extLst>
          </p:cNvPr>
          <p:cNvSpPr txBox="1"/>
          <p:nvPr/>
        </p:nvSpPr>
        <p:spPr>
          <a:xfrm>
            <a:off x="2567400" y="1625624"/>
            <a:ext cx="705193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dirty="0">
                <a:latin typeface="Times New Roman"/>
                <a:ea typeface="+mn-lt"/>
                <a:cs typeface="+mn-lt"/>
              </a:rPr>
              <a:t>Bluetooth in Distributed Systems</a:t>
            </a:r>
            <a:endParaRPr lang="en-US" sz="4000" dirty="0">
              <a:latin typeface="Times New Roman"/>
              <a:cs typeface="Times New Roman"/>
            </a:endParaRPr>
          </a:p>
          <a:p>
            <a:pPr algn="ctr"/>
            <a:endParaRPr lang="en-US" sz="40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E7C4E0-97C3-7D9B-AE81-FAEDCA9A9261}"/>
              </a:ext>
            </a:extLst>
          </p:cNvPr>
          <p:cNvSpPr txBox="1"/>
          <p:nvPr/>
        </p:nvSpPr>
        <p:spPr>
          <a:xfrm>
            <a:off x="9624586" y="5654260"/>
            <a:ext cx="255494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 CHETAN RIKHIL</a:t>
            </a:r>
            <a:br>
              <a:rPr lang="en-US" sz="2400" dirty="0"/>
            </a:br>
            <a:r>
              <a:rPr lang="en-US" sz="2400" dirty="0"/>
              <a:t>22B81A0575</a:t>
            </a:r>
            <a:br>
              <a:rPr lang="en-US" sz="2400" dirty="0"/>
            </a:br>
            <a:r>
              <a:rPr lang="en-US" sz="2400" dirty="0"/>
              <a:t>CSE-B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5A235A5-F944-91BB-7101-7A4C3DB99527}"/>
              </a:ext>
            </a:extLst>
          </p:cNvPr>
          <p:cNvSpPr txBox="1"/>
          <p:nvPr/>
        </p:nvSpPr>
        <p:spPr>
          <a:xfrm>
            <a:off x="-1928" y="210274"/>
            <a:ext cx="12195856" cy="51065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Bluetooth is a </a:t>
            </a:r>
            <a:r>
              <a:rPr lang="en-US" sz="2000" b="1" dirty="0">
                <a:latin typeface="Times New Roman"/>
                <a:cs typeface="Times New Roman"/>
              </a:rPr>
              <a:t>short-range wireless communication standard</a:t>
            </a:r>
            <a:r>
              <a:rPr lang="en-US" sz="2000" dirty="0">
                <a:latin typeface="Times New Roman"/>
                <a:cs typeface="Times New Roman"/>
              </a:rPr>
              <a:t> that allows devices to exchange data over radio waves. It eliminates the need for cables and provides secure, low-power, and efficient connectivity.</a:t>
            </a: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It operates in the unlicensed ISM band (2.4 GHz) using frequency-hopping spread spectrum.</a:t>
            </a:r>
          </a:p>
          <a:p>
            <a:pPr marL="285750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Widely used for personal area networks (PANs).</a:t>
            </a:r>
            <a:endParaRPr lang="en-US" sz="2000" u="sng">
              <a:latin typeface="Times New Roman"/>
              <a:cs typeface="Times New Roman"/>
            </a:endParaRPr>
          </a:p>
          <a:p>
            <a:pPr marL="285750">
              <a:spcAft>
                <a:spcPts val="500"/>
              </a:spcAft>
            </a:pPr>
            <a:r>
              <a:rPr lang="en-US" sz="2000" b="1" u="sng" dirty="0">
                <a:latin typeface="Times New Roman"/>
                <a:cs typeface="Times New Roman"/>
              </a:rPr>
              <a:t>History:</a:t>
            </a:r>
            <a:endParaRPr lang="en-US" sz="2000" dirty="0">
              <a:latin typeface="Times New Roman"/>
              <a:cs typeface="Times New Roman"/>
            </a:endParaRPr>
          </a:p>
          <a:p>
            <a:pPr marL="285750" lvl="1" indent="-285750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Developed in 1994 by Ericsson.</a:t>
            </a:r>
          </a:p>
          <a:p>
            <a:pPr marL="228600" lvl="1" indent="-285750">
              <a:spcAft>
                <a:spcPts val="5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Named after the Viking King </a:t>
            </a:r>
            <a:r>
              <a:rPr lang="en-US" sz="2000" b="1" dirty="0">
                <a:latin typeface="Times New Roman"/>
                <a:cs typeface="Times New Roman"/>
              </a:rPr>
              <a:t>Harald Bluetooth</a:t>
            </a:r>
            <a:r>
              <a:rPr lang="en-US" sz="2000" dirty="0">
                <a:latin typeface="Times New Roman"/>
                <a:cs typeface="Times New Roman"/>
              </a:rPr>
              <a:t>, who united Danish tribes, symbolizing how Bluetooth unifies devices.</a:t>
            </a:r>
          </a:p>
          <a:p>
            <a:pPr indent="-228600">
              <a:spcAft>
                <a:spcPts val="500"/>
              </a:spcAft>
            </a:pPr>
            <a:r>
              <a:rPr lang="en-US" sz="2000" b="1" u="sng" dirty="0">
                <a:latin typeface="Times New Roman"/>
                <a:cs typeface="Times New Roman"/>
              </a:rPr>
              <a:t>Purpose: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</a:p>
          <a:p>
            <a:pPr indent="-228600">
              <a:spcAft>
                <a:spcPts val="500"/>
              </a:spcAft>
            </a:pPr>
            <a:r>
              <a:rPr lang="en-US" sz="2000" dirty="0">
                <a:latin typeface="Times New Roman"/>
                <a:cs typeface="Times New Roman"/>
              </a:rPr>
              <a:t>To create small wireless networks, referred to as </a:t>
            </a:r>
            <a:r>
              <a:rPr lang="en-US" sz="2000" b="1" dirty="0">
                <a:latin typeface="Times New Roman"/>
                <a:cs typeface="Times New Roman"/>
              </a:rPr>
              <a:t>personal area networks (PANs)</a:t>
            </a:r>
            <a:r>
              <a:rPr lang="en-US" sz="2000" dirty="0">
                <a:latin typeface="Times New Roman"/>
                <a:cs typeface="Times New Roman"/>
              </a:rPr>
              <a:t>, for convenient  communication.</a:t>
            </a:r>
          </a:p>
          <a:p>
            <a:pPr indent="-228600">
              <a:spcAft>
                <a:spcPts val="500"/>
              </a:spcAft>
            </a:pPr>
            <a:r>
              <a:rPr lang="en-US" sz="2000" b="1" u="sng" dirty="0">
                <a:latin typeface="Times New Roman"/>
                <a:cs typeface="Times New Roman"/>
              </a:rPr>
              <a:t>Uses</a:t>
            </a:r>
            <a:r>
              <a:rPr lang="en-US" sz="2000" b="1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 </a:t>
            </a:r>
            <a:endParaRPr lang="en-US" sz="2000" b="1" u="sng" dirty="0">
              <a:latin typeface="Times New Roman"/>
              <a:cs typeface="Times New Roman"/>
            </a:endParaRPr>
          </a:p>
          <a:p>
            <a:pPr indent="-228600">
              <a:spcAft>
                <a:spcPts val="500"/>
              </a:spcAft>
            </a:pPr>
            <a:r>
              <a:rPr lang="en-US" sz="2000" dirty="0">
                <a:latin typeface="Times New Roman"/>
                <a:cs typeface="Times New Roman"/>
              </a:rPr>
              <a:t>File sharing, audio streaming, device synchronization, </a:t>
            </a:r>
            <a:endParaRPr lang="en-US" sz="2000" b="1" u="sng" dirty="0">
              <a:latin typeface="Times New Roman"/>
              <a:cs typeface="Times New Roman"/>
            </a:endParaRPr>
          </a:p>
          <a:p>
            <a:pPr indent="-228600">
              <a:spcAft>
                <a:spcPts val="500"/>
              </a:spcAft>
            </a:pPr>
            <a:r>
              <a:rPr lang="en-US" sz="2000" dirty="0">
                <a:latin typeface="Times New Roman"/>
                <a:cs typeface="Times New Roman"/>
              </a:rPr>
              <a:t>IoT connectivity, and more.</a:t>
            </a:r>
            <a:endParaRPr lang="en-US" sz="2000" b="1" u="sng" dirty="0">
              <a:latin typeface="Times New Roman"/>
              <a:cs typeface="Times New Roman"/>
            </a:endParaRPr>
          </a:p>
          <a:p>
            <a:pPr>
              <a:spcAft>
                <a:spcPts val="500"/>
              </a:spcAft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7" name="Picture 6" descr="A complete guide on Bluetooth safety">
            <a:extLst>
              <a:ext uri="{FF2B5EF4-FFF2-40B4-BE49-F238E27FC236}">
                <a16:creationId xmlns:a16="http://schemas.microsoft.com/office/drawing/2014/main" id="{C834FFF7-AA52-DD67-20DB-E6E2E8B65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9790" y="4024350"/>
            <a:ext cx="4554330" cy="244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382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D5E291-C71D-8105-C11B-DB22E7995275}"/>
              </a:ext>
            </a:extLst>
          </p:cNvPr>
          <p:cNvSpPr txBox="1"/>
          <p:nvPr/>
        </p:nvSpPr>
        <p:spPr>
          <a:xfrm>
            <a:off x="4534" y="1016"/>
            <a:ext cx="12196417" cy="51398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Key Features of Bluetooth:</a:t>
            </a:r>
          </a:p>
          <a:p>
            <a:endParaRPr lang="en-US" sz="2400" b="1" u="sng" dirty="0">
              <a:latin typeface="Times New Roman"/>
              <a:cs typeface="Times New Roman"/>
            </a:endParaRPr>
          </a:p>
          <a:p>
            <a:pPr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Frequency Band:</a:t>
            </a:r>
          </a:p>
          <a:p>
            <a:pPr lvl="2">
              <a:buFont typeface="Wingdings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 Operates in the globally available </a:t>
            </a:r>
            <a:r>
              <a:rPr lang="en-US" sz="2000" b="1" dirty="0">
                <a:latin typeface="Times New Roman"/>
                <a:cs typeface="Times New Roman"/>
              </a:rPr>
              <a:t>2.4 GHz ISM band</a:t>
            </a:r>
            <a:r>
              <a:rPr lang="en-US" sz="2000" dirty="0">
                <a:latin typeface="Times New Roman"/>
                <a:cs typeface="Times New Roman"/>
              </a:rPr>
              <a:t>, making it accessible worldwide.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Range: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Class 1 Devices:</a:t>
            </a:r>
            <a:r>
              <a:rPr lang="en-US" sz="2000" dirty="0">
                <a:latin typeface="Times New Roman"/>
                <a:cs typeface="Times New Roman"/>
              </a:rPr>
              <a:t> Up to 100 meters.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Class 2 Devices:</a:t>
            </a:r>
            <a:r>
              <a:rPr lang="en-US" sz="2000" dirty="0">
                <a:latin typeface="Times New Roman"/>
                <a:cs typeface="Times New Roman"/>
              </a:rPr>
              <a:t> Typical range of 10 meters (used in most consumer devices).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Class 3 Devices:</a:t>
            </a:r>
            <a:r>
              <a:rPr lang="en-US" sz="2000" dirty="0">
                <a:latin typeface="Times New Roman"/>
                <a:cs typeface="Times New Roman"/>
              </a:rPr>
              <a:t> Limited to a few meters.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Low Power Consumption: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Especially with </a:t>
            </a:r>
            <a:r>
              <a:rPr lang="en-US" sz="2000" b="1" dirty="0">
                <a:latin typeface="Times New Roman"/>
                <a:cs typeface="Times New Roman"/>
              </a:rPr>
              <a:t>Bluetooth Low Energy (BLE)</a:t>
            </a:r>
            <a:r>
              <a:rPr lang="en-US" sz="2000" dirty="0">
                <a:latin typeface="Times New Roman"/>
                <a:cs typeface="Times New Roman"/>
              </a:rPr>
              <a:t>, designed for devices like fitness trackers and smartwatches.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Simple Connectivity: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Easy pairing process and automatic reconnection to paired devices.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Interoperability: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Compatible across various device types and brands due to standardized protocols.</a:t>
            </a:r>
          </a:p>
          <a:p>
            <a:pPr marL="228600" indent="-228600">
              <a:buFont typeface="Arial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Secure Communication: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Implements encryption and authentication to protect data.</a:t>
            </a:r>
          </a:p>
        </p:txBody>
      </p:sp>
    </p:spTree>
    <p:extLst>
      <p:ext uri="{BB962C8B-B14F-4D97-AF65-F5344CB8AC3E}">
        <p14:creationId xmlns:p14="http://schemas.microsoft.com/office/powerpoint/2010/main" val="358404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9B59B2-1FCA-1FD4-A0B4-AF6A04D1D958}"/>
              </a:ext>
            </a:extLst>
          </p:cNvPr>
          <p:cNvSpPr txBox="1"/>
          <p:nvPr/>
        </p:nvSpPr>
        <p:spPr>
          <a:xfrm>
            <a:off x="-2209" y="-2208"/>
            <a:ext cx="6850528" cy="61632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/>
              <a:t>Bluetooth Architecture</a:t>
            </a:r>
            <a:endParaRPr lang="en-US" sz="2200" u="sng" dirty="0"/>
          </a:p>
          <a:p>
            <a:endParaRPr lang="en-US" sz="2000" b="1" dirty="0"/>
          </a:p>
          <a:p>
            <a:pPr marL="228600" indent="-228600">
              <a:spcAft>
                <a:spcPts val="300"/>
              </a:spcAft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Radio Layer:</a:t>
            </a:r>
          </a:p>
          <a:p>
            <a:pPr marL="285750" lvl="1" indent="-28575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Defines how devices transmit data wirelessly.</a:t>
            </a:r>
          </a:p>
          <a:p>
            <a:pPr marL="285750" lvl="1" indent="-28575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Uses </a:t>
            </a:r>
            <a:r>
              <a:rPr lang="en-US" sz="2000" b="1" dirty="0">
                <a:latin typeface="Times New Roman"/>
                <a:cs typeface="Times New Roman"/>
              </a:rPr>
              <a:t>frequency hopping</a:t>
            </a:r>
            <a:r>
              <a:rPr lang="en-US" sz="2000" dirty="0">
                <a:latin typeface="Times New Roman"/>
                <a:cs typeface="Times New Roman"/>
              </a:rPr>
              <a:t> to minimize interference, switching frequencies up to 1,600 times per second.</a:t>
            </a:r>
          </a:p>
          <a:p>
            <a:pPr marL="228600" indent="-228600">
              <a:spcAft>
                <a:spcPts val="300"/>
              </a:spcAft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Baseband Layer: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Manages physical channels and time slots.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Defines </a:t>
            </a:r>
            <a:r>
              <a:rPr lang="en-US" sz="2000" b="1" dirty="0">
                <a:latin typeface="Times New Roman"/>
                <a:cs typeface="Times New Roman"/>
              </a:rPr>
              <a:t>packet structure</a:t>
            </a:r>
            <a:r>
              <a:rPr lang="en-US" sz="2000" dirty="0">
                <a:latin typeface="Times New Roman"/>
                <a:cs typeface="Times New Roman"/>
              </a:rPr>
              <a:t> for communication.</a:t>
            </a:r>
          </a:p>
          <a:p>
            <a:pPr marL="228600" indent="-228600">
              <a:spcAft>
                <a:spcPts val="300"/>
              </a:spcAft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Link Manager Protocol (LMP):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Handles link establishment and maintenance.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Responsible for </a:t>
            </a:r>
            <a:r>
              <a:rPr lang="en-US" sz="2000" b="1" dirty="0">
                <a:latin typeface="Times New Roman"/>
                <a:cs typeface="Times New Roman"/>
              </a:rPr>
              <a:t>authentication</a:t>
            </a:r>
            <a:r>
              <a:rPr lang="en-US" sz="2000" dirty="0">
                <a:latin typeface="Times New Roman"/>
                <a:cs typeface="Times New Roman"/>
              </a:rPr>
              <a:t>, </a:t>
            </a:r>
            <a:r>
              <a:rPr lang="en-US" sz="2000" b="1" dirty="0">
                <a:latin typeface="Times New Roman"/>
                <a:cs typeface="Times New Roman"/>
              </a:rPr>
              <a:t>pairing</a:t>
            </a:r>
            <a:r>
              <a:rPr lang="en-US" sz="2000" dirty="0">
                <a:latin typeface="Times New Roman"/>
                <a:cs typeface="Times New Roman"/>
              </a:rPr>
              <a:t>, and </a:t>
            </a:r>
            <a:r>
              <a:rPr lang="en-US" sz="2000" b="1" dirty="0">
                <a:latin typeface="Times New Roman"/>
                <a:cs typeface="Times New Roman"/>
              </a:rPr>
              <a:t>security setup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228600" indent="-228600">
              <a:spcAft>
                <a:spcPts val="300"/>
              </a:spcAft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L2CAP (Logical Link Control and Adaptation Protocol):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Manages data transmission for higher layers.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Supports multiple protocols like audio and file transfer.</a:t>
            </a:r>
          </a:p>
          <a:p>
            <a:pPr marL="228600" indent="-228600">
              <a:spcAft>
                <a:spcPts val="300"/>
              </a:spcAft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Service Discovery Protocol (SDP):</a:t>
            </a:r>
          </a:p>
          <a:p>
            <a:pPr marL="228600" lvl="1" indent="-228600">
              <a:spcAft>
                <a:spcPts val="300"/>
              </a:spcAft>
              <a:buFont typeface="Arial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Enables devices to identify available services (e.g., printing, file sharing).</a:t>
            </a:r>
          </a:p>
        </p:txBody>
      </p:sp>
      <p:pic>
        <p:nvPicPr>
          <p:cNvPr id="5" name="Picture 4" descr="Bluetooth 101 - Bluetooth Architecture | Wayne Staab, PhD |  HearingHealthMatters.org">
            <a:extLst>
              <a:ext uri="{FF2B5EF4-FFF2-40B4-BE49-F238E27FC236}">
                <a16:creationId xmlns:a16="http://schemas.microsoft.com/office/drawing/2014/main" id="{BAF0AFAA-0562-5B06-28FF-36C50C902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974" y="261896"/>
            <a:ext cx="5396458" cy="4467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124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2C7886-D96B-21E6-3322-5B4778FB5DA7}"/>
              </a:ext>
            </a:extLst>
          </p:cNvPr>
          <p:cNvSpPr txBox="1"/>
          <p:nvPr/>
        </p:nvSpPr>
        <p:spPr>
          <a:xfrm>
            <a:off x="-2209" y="-2209"/>
            <a:ext cx="12196417" cy="26161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Types of Bluetooth Networks: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Piconet: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Small network with one </a:t>
            </a:r>
            <a:r>
              <a:rPr lang="en-US" sz="2000" b="1" dirty="0">
                <a:latin typeface="Times New Roman"/>
                <a:cs typeface="Times New Roman"/>
              </a:rPr>
              <a:t>master device</a:t>
            </a:r>
            <a:r>
              <a:rPr lang="en-US" sz="2000" dirty="0">
                <a:latin typeface="Times New Roman"/>
                <a:cs typeface="Times New Roman"/>
              </a:rPr>
              <a:t> controlling up to 7 </a:t>
            </a:r>
            <a:r>
              <a:rPr lang="en-US" sz="2000" b="1" dirty="0">
                <a:latin typeface="Times New Roman"/>
                <a:cs typeface="Times New Roman"/>
              </a:rPr>
              <a:t>slave devices</a:t>
            </a:r>
            <a:r>
              <a:rPr lang="en-US" sz="2000" dirty="0">
                <a:latin typeface="Times New Roman"/>
                <a:cs typeface="Times New Roman"/>
              </a:rPr>
              <a:t>.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Example: A smartphone controlling a wireless speaker and headset.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Scatternet: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Formed by connecting multiple piconets.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Devices act as </a:t>
            </a:r>
            <a:r>
              <a:rPr lang="en-US" sz="2000" b="1" dirty="0">
                <a:latin typeface="Times New Roman"/>
                <a:cs typeface="Times New Roman"/>
              </a:rPr>
              <a:t>bridges</a:t>
            </a:r>
            <a:r>
              <a:rPr lang="en-US" sz="2000" dirty="0">
                <a:latin typeface="Times New Roman"/>
                <a:cs typeface="Times New Roman"/>
              </a:rPr>
              <a:t>, facilitating communication across the network.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Used in IoT systems where multiple devices collaborate.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1BEC3A-172D-5F95-E7B5-84177A41A579}"/>
              </a:ext>
            </a:extLst>
          </p:cNvPr>
          <p:cNvSpPr txBox="1"/>
          <p:nvPr/>
        </p:nvSpPr>
        <p:spPr>
          <a:xfrm>
            <a:off x="-2208" y="3095731"/>
            <a:ext cx="12196416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Bluetooth Versions: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Bluetooth Classic (v1.0 - v3.0):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Focused on audio and basic data transfer.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Supported devices like early wireless headphones and car systems.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Bluetooth Low Energy (BLE, v4.0 and beyond):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Introduced to support IoT devices with low power needs.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Ideal for devices like smartwatches, health sensors, and industrial IoT devices.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Bluetooth 5.0 and Later Versions: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Enhanced speed (up to 2 Mbps) and range (up to 240 meters in open spaces).</a:t>
            </a:r>
          </a:p>
          <a:p>
            <a:pPr marL="228600" lvl="1" indent="-228600">
              <a:buFont typeface=""/>
              <a:buAutoNum type="arabicPeriod"/>
            </a:pPr>
            <a:r>
              <a:rPr lang="en-US" sz="2000" dirty="0">
                <a:latin typeface="Times New Roman"/>
                <a:cs typeface="Times New Roman"/>
              </a:rPr>
              <a:t>Introduced </a:t>
            </a:r>
            <a:r>
              <a:rPr lang="en-US" sz="2000" b="1" dirty="0">
                <a:latin typeface="Times New Roman"/>
                <a:cs typeface="Times New Roman"/>
              </a:rPr>
              <a:t>mesh networking</a:t>
            </a:r>
            <a:r>
              <a:rPr lang="en-US" sz="2000" dirty="0">
                <a:latin typeface="Times New Roman"/>
                <a:cs typeface="Times New Roman"/>
              </a:rPr>
              <a:t>, enabling devices to form large networks for smart cities or industrial setups.</a:t>
            </a:r>
          </a:p>
        </p:txBody>
      </p:sp>
      <p:pic>
        <p:nvPicPr>
          <p:cNvPr id="2" name="Picture 1" descr="A diagram of a network&#10;&#10;Description automatically generated">
            <a:extLst>
              <a:ext uri="{FF2B5EF4-FFF2-40B4-BE49-F238E27FC236}">
                <a16:creationId xmlns:a16="http://schemas.microsoft.com/office/drawing/2014/main" id="{3ED78E3D-26AF-B2F7-567F-1D22F9644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237" y="2207187"/>
            <a:ext cx="4943897" cy="277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5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BCA2EB-8EBC-C346-A4C3-39EBDE2594F8}"/>
              </a:ext>
            </a:extLst>
          </p:cNvPr>
          <p:cNvSpPr txBox="1"/>
          <p:nvPr/>
        </p:nvSpPr>
        <p:spPr>
          <a:xfrm>
            <a:off x="-2208" y="-2208"/>
            <a:ext cx="12196416" cy="29238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Bluetooth in Distributed Systems:</a:t>
            </a:r>
          </a:p>
          <a:p>
            <a:pPr>
              <a:buFont typeface=""/>
              <a:buChar char="•"/>
            </a:pPr>
            <a:r>
              <a:rPr lang="en-US" sz="2000" dirty="0">
                <a:latin typeface="Times New Roman"/>
                <a:cs typeface="Times New Roman"/>
              </a:rPr>
              <a:t>Definition of Distributed Systems: A collection of independent devices working together to perform tasks or share resources.</a:t>
            </a:r>
          </a:p>
          <a:p>
            <a:r>
              <a:rPr lang="en-US" sz="2000" b="1" u="sng" dirty="0">
                <a:latin typeface="Times New Roman"/>
                <a:cs typeface="Times New Roman"/>
              </a:rPr>
              <a:t>Bluetooth's Role in Distributed Systems:</a:t>
            </a:r>
          </a:p>
          <a:p>
            <a:pPr marL="228600" lvl="1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Device Collaboration:</a:t>
            </a:r>
            <a:r>
              <a:rPr lang="en-US" sz="2000" dirty="0">
                <a:latin typeface="Times New Roman"/>
                <a:cs typeface="Times New Roman"/>
              </a:rPr>
              <a:t> Enables devices to communicate and share workloads efficiently.</a:t>
            </a:r>
          </a:p>
          <a:p>
            <a:pPr marL="228600" lvl="1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Decentralized Communication:</a:t>
            </a:r>
            <a:r>
              <a:rPr lang="en-US" sz="2000" dirty="0">
                <a:latin typeface="Times New Roman"/>
                <a:cs typeface="Times New Roman"/>
              </a:rPr>
              <a:t> Allows devices to form networks without a centralized server.</a:t>
            </a:r>
          </a:p>
          <a:p>
            <a:pPr marL="228600" lvl="1" indent="-228600"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Real-Time Data Sharing:</a:t>
            </a:r>
            <a:r>
              <a:rPr lang="en-US" sz="2000" dirty="0">
                <a:latin typeface="Times New Roman"/>
                <a:cs typeface="Times New Roman"/>
              </a:rPr>
              <a:t> Supports time-sensitive operations like data collection in healthcare or automation.</a:t>
            </a:r>
          </a:p>
          <a:p>
            <a:pPr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Example:</a:t>
            </a:r>
            <a:r>
              <a:rPr lang="en-US" sz="2000" dirty="0">
                <a:latin typeface="Times New Roman"/>
                <a:cs typeface="Times New Roman"/>
              </a:rPr>
              <a:t> A distributed home automation system where lights, thermostats, and security cameras communicate via Bluetooth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DDC242-2784-DA09-71C9-40F9794C43BB}"/>
              </a:ext>
            </a:extLst>
          </p:cNvPr>
          <p:cNvSpPr txBox="1"/>
          <p:nvPr/>
        </p:nvSpPr>
        <p:spPr>
          <a:xfrm>
            <a:off x="-2696" y="3072276"/>
            <a:ext cx="12116473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Segoe UI"/>
              </a:rPr>
              <a:t>Applications of Bluetooth in Distributed Systems​</a:t>
            </a: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latin typeface="Times New Roman"/>
                <a:cs typeface="Arial"/>
              </a:rPr>
              <a:t>Internet of Things (IoT):</a:t>
            </a:r>
            <a:r>
              <a:rPr lang="en-US" sz="2000" dirty="0">
                <a:latin typeface="Times New Roman"/>
                <a:cs typeface="Arial"/>
              </a:rPr>
              <a:t>​</a:t>
            </a:r>
          </a:p>
          <a:p>
            <a:pPr marL="800100" lvl="2" indent="-34290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Connects smart devices like door locks, thermostats, and sensors.​</a:t>
            </a:r>
          </a:p>
          <a:p>
            <a:pPr marL="800100" lvl="2" indent="-34290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Bluetooth </a:t>
            </a:r>
            <a:r>
              <a:rPr lang="en-US" sz="2000" b="1" dirty="0">
                <a:latin typeface="Times New Roman"/>
                <a:cs typeface="Arial"/>
              </a:rPr>
              <a:t>mesh networking</a:t>
            </a:r>
            <a:r>
              <a:rPr lang="en-US" sz="2000" dirty="0">
                <a:latin typeface="Times New Roman"/>
                <a:cs typeface="Arial"/>
              </a:rPr>
              <a:t> ensures these devices can communicate seamlessly across large areas.​</a:t>
            </a: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latin typeface="Times New Roman"/>
                <a:cs typeface="Arial"/>
              </a:rPr>
              <a:t>Healthcare:</a:t>
            </a:r>
            <a:r>
              <a:rPr lang="en-US" sz="2000" dirty="0">
                <a:latin typeface="Times New Roman"/>
                <a:cs typeface="Arial"/>
              </a:rPr>
              <a:t>​</a:t>
            </a:r>
          </a:p>
          <a:p>
            <a:pPr marL="800100" lvl="2" indent="-34290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Monitors and collects patient data through wearable devices.​</a:t>
            </a:r>
          </a:p>
          <a:p>
            <a:pPr marL="800100" lvl="2" indent="-34290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Examples: Heart rate monitors, glucose sensors, and remote patient tracking systems.</a:t>
            </a:r>
          </a:p>
          <a:p>
            <a:pPr marL="285750" lvl="1" indent="-285750">
              <a:buFont typeface="Courier New"/>
              <a:buChar char="o"/>
            </a:pPr>
            <a:r>
              <a:rPr lang="en-US" sz="2000" b="1" dirty="0">
                <a:latin typeface="Times New Roman"/>
                <a:cs typeface="Arial"/>
              </a:rPr>
              <a:t>Education:</a:t>
            </a:r>
            <a:endParaRPr lang="en-US" sz="2000" dirty="0">
              <a:latin typeface="Times New Roman"/>
              <a:cs typeface="Arial"/>
            </a:endParaRPr>
          </a:p>
          <a:p>
            <a:pPr marL="742950" lvl="2" indent="-28575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Enables file sharing between devices in classrooms.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Wireless projectors and collaborative tools utilize Bluetooth for ease of use.</a:t>
            </a:r>
          </a:p>
          <a:p>
            <a:pPr marL="285750" lvl="1" indent="-285750">
              <a:buFont typeface="Courier New"/>
              <a:buChar char="o"/>
            </a:pPr>
            <a:r>
              <a:rPr lang="en-US" sz="2000" b="1" dirty="0">
                <a:latin typeface="Times New Roman"/>
                <a:cs typeface="Arial"/>
              </a:rPr>
              <a:t>Entertainment:</a:t>
            </a:r>
            <a:endParaRPr lang="en-US" sz="2000" dirty="0">
              <a:latin typeface="Times New Roman"/>
              <a:cs typeface="Arial"/>
            </a:endParaRPr>
          </a:p>
          <a:p>
            <a:pPr marL="742950" lvl="2" indent="-28575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Connects speakers, headphones, gaming controllers, and other peripherals.</a:t>
            </a:r>
            <a:endParaRPr lang="en-US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7801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9F770F-A5EB-2D9C-CAD0-927E74605EEC}"/>
              </a:ext>
            </a:extLst>
          </p:cNvPr>
          <p:cNvSpPr txBox="1"/>
          <p:nvPr/>
        </p:nvSpPr>
        <p:spPr>
          <a:xfrm>
            <a:off x="-2208" y="152889"/>
            <a:ext cx="1219641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5.Industrial Automation: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dirty="0">
                <a:latin typeface="Times New Roman"/>
                <a:cs typeface="Times New Roman"/>
              </a:rPr>
              <a:t>Machines and sensors use Bluetooth to coordinate operations and collect data in factories.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9324F-A8DE-84DA-3FAD-4A2D21CF1857}"/>
              </a:ext>
            </a:extLst>
          </p:cNvPr>
          <p:cNvSpPr txBox="1"/>
          <p:nvPr/>
        </p:nvSpPr>
        <p:spPr>
          <a:xfrm>
            <a:off x="-9440" y="1581993"/>
            <a:ext cx="12204137" cy="32316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Arial"/>
              </a:rPr>
              <a:t>Bluetooth Security Features</a:t>
            </a:r>
            <a:r>
              <a:rPr lang="en-US" sz="2200" u="sng" dirty="0">
                <a:latin typeface="Times New Roman"/>
                <a:cs typeface="Arial"/>
              </a:rPr>
              <a:t>​: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Times New Roman"/>
                <a:cs typeface="Arial"/>
              </a:rPr>
              <a:t>Security Risks:</a:t>
            </a:r>
            <a:r>
              <a:rPr lang="en-US" sz="2000" dirty="0">
                <a:latin typeface="Times New Roman"/>
                <a:cs typeface="Arial"/>
              </a:rPr>
              <a:t>​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Eavesdropping: Intercepting Bluetooth communication.​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dirty="0">
                <a:latin typeface="Times New Roman"/>
                <a:cs typeface="Arial"/>
              </a:rPr>
              <a:t>Man-in-the-Middle Attacks: Attacker inserts themselves into the communication.​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latin typeface="Times New Roman"/>
                <a:cs typeface="Arial"/>
              </a:rPr>
              <a:t>Bluetooth Security Solutions:</a:t>
            </a:r>
            <a:r>
              <a:rPr lang="en-US" sz="2000" dirty="0">
                <a:latin typeface="Times New Roman"/>
                <a:cs typeface="Arial"/>
              </a:rPr>
              <a:t>​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b="1" dirty="0">
                <a:latin typeface="Times New Roman"/>
                <a:cs typeface="Arial"/>
              </a:rPr>
              <a:t>Encryption:</a:t>
            </a:r>
            <a:r>
              <a:rPr lang="en-US" sz="2000" dirty="0">
                <a:latin typeface="Times New Roman"/>
                <a:cs typeface="Arial"/>
              </a:rPr>
              <a:t> Encrypts data before transmission to prevent unauthorized access.​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b="1" dirty="0">
                <a:latin typeface="Times New Roman"/>
                <a:cs typeface="Arial"/>
              </a:rPr>
              <a:t>Secure Pairing Methods:</a:t>
            </a:r>
            <a:r>
              <a:rPr lang="en-US" sz="2000" dirty="0">
                <a:latin typeface="Times New Roman"/>
                <a:cs typeface="Arial"/>
              </a:rPr>
              <a:t>​</a:t>
            </a:r>
          </a:p>
          <a:p>
            <a:pPr marL="1200150" lvl="4" indent="-285750">
              <a:buFont typeface="Courier New"/>
              <a:buChar char="o"/>
            </a:pPr>
            <a:r>
              <a:rPr lang="en-US" sz="2000" dirty="0">
                <a:latin typeface="Times New Roman"/>
                <a:cs typeface="Arial"/>
              </a:rPr>
              <a:t>Numeric Comparison: Confirms pairing via passkeys.​</a:t>
            </a:r>
          </a:p>
          <a:p>
            <a:pPr marL="1200150" lvl="4" indent="-285750">
              <a:buFont typeface="Courier New"/>
              <a:buChar char="o"/>
            </a:pPr>
            <a:r>
              <a:rPr lang="en-US" sz="2000" dirty="0">
                <a:latin typeface="Times New Roman"/>
                <a:cs typeface="Arial"/>
              </a:rPr>
              <a:t>Out-of-Band (OOB): Uses an alternate channel, like NFC, for secure pairing.​</a:t>
            </a:r>
          </a:p>
          <a:p>
            <a:pPr marL="742950" lvl="2" indent="-285750">
              <a:buFont typeface="Wingdings"/>
              <a:buChar char="§"/>
            </a:pPr>
            <a:r>
              <a:rPr lang="en-US" sz="2000" b="1" dirty="0">
                <a:latin typeface="Times New Roman"/>
                <a:cs typeface="Arial"/>
              </a:rPr>
              <a:t>Frequency Hopping:</a:t>
            </a:r>
            <a:r>
              <a:rPr lang="en-US" sz="2000" dirty="0">
                <a:latin typeface="Times New Roman"/>
                <a:cs typeface="Arial"/>
              </a:rPr>
              <a:t> Switches channels rapidly to prevent interception.​</a:t>
            </a:r>
          </a:p>
        </p:txBody>
      </p:sp>
    </p:spTree>
    <p:extLst>
      <p:ext uri="{BB962C8B-B14F-4D97-AF65-F5344CB8AC3E}">
        <p14:creationId xmlns:p14="http://schemas.microsoft.com/office/powerpoint/2010/main" val="1231317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C1290B-2D42-0CEF-D286-F6BE5DA0C0E3}"/>
              </a:ext>
            </a:extLst>
          </p:cNvPr>
          <p:cNvSpPr txBox="1"/>
          <p:nvPr/>
        </p:nvSpPr>
        <p:spPr>
          <a:xfrm>
            <a:off x="-2208" y="117901"/>
            <a:ext cx="1219641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Bluetooth vs. Other Wireless Technologies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Bluetooth vs. Wi-Fi: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Bluetooth:</a:t>
            </a:r>
            <a:r>
              <a:rPr lang="en-US" sz="2000" dirty="0">
                <a:latin typeface="Times New Roman"/>
                <a:cs typeface="Times New Roman"/>
              </a:rPr>
              <a:t> Low power, ideal for short-range and low-data applications.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Wi-Fi:</a:t>
            </a:r>
            <a:r>
              <a:rPr lang="en-US" sz="2000" dirty="0">
                <a:latin typeface="Times New Roman"/>
                <a:cs typeface="Times New Roman"/>
              </a:rPr>
              <a:t> Higher speed and range, suitable for large file transfers and internet access.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Bluetooth vs. ZigBee: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ZigBee:</a:t>
            </a:r>
            <a:r>
              <a:rPr lang="en-US" sz="2000" dirty="0">
                <a:latin typeface="Times New Roman"/>
                <a:cs typeface="Times New Roman"/>
              </a:rPr>
              <a:t> Designed for low-power, large-scale IoT networks.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Bluetooth Mesh:</a:t>
            </a:r>
            <a:r>
              <a:rPr lang="en-US" sz="2000" dirty="0">
                <a:latin typeface="Times New Roman"/>
                <a:cs typeface="Times New Roman"/>
              </a:rPr>
              <a:t> More versatile, with better data rates and device support.</a:t>
            </a:r>
          </a:p>
          <a:p>
            <a:pPr marL="228600" indent="-228600"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Bluetooth vs. NFC (Near Field Communication):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NFC:</a:t>
            </a:r>
            <a:r>
              <a:rPr lang="en-US" sz="2000" dirty="0">
                <a:latin typeface="Times New Roman"/>
                <a:cs typeface="Times New Roman"/>
              </a:rPr>
              <a:t> Limited to very short range (~10 cm).</a:t>
            </a:r>
          </a:p>
          <a:p>
            <a:pPr marL="685800" lvl="2" indent="-228600">
              <a:buFont typeface="Wingdings"/>
              <a:buChar char="§"/>
            </a:pPr>
            <a:r>
              <a:rPr lang="en-US" sz="2000" b="1" dirty="0">
                <a:latin typeface="Times New Roman"/>
                <a:cs typeface="Times New Roman"/>
              </a:rPr>
              <a:t>Bluetooth:</a:t>
            </a:r>
            <a:r>
              <a:rPr lang="en-US" sz="2000" dirty="0">
                <a:latin typeface="Times New Roman"/>
                <a:cs typeface="Times New Roman"/>
              </a:rPr>
              <a:t> Offers greater range and supports more complex data transfers.</a:t>
            </a:r>
          </a:p>
        </p:txBody>
      </p:sp>
      <p:pic>
        <p:nvPicPr>
          <p:cNvPr id="5" name="Picture 4" descr="A table with text and numbers&#10;&#10;Description automatically generated">
            <a:extLst>
              <a:ext uri="{FF2B5EF4-FFF2-40B4-BE49-F238E27FC236}">
                <a16:creationId xmlns:a16="http://schemas.microsoft.com/office/drawing/2014/main" id="{4AD38403-A34D-1BF3-FEC4-B934EAE1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699" y="3297113"/>
            <a:ext cx="9238408" cy="354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992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90C83C-C5C5-BDA6-6D09-48052A0EB113}"/>
              </a:ext>
            </a:extLst>
          </p:cNvPr>
          <p:cNvSpPr txBox="1"/>
          <p:nvPr/>
        </p:nvSpPr>
        <p:spPr>
          <a:xfrm>
            <a:off x="-2209" y="-2209"/>
            <a:ext cx="12196417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Advantages: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Wireless Connectivity:</a:t>
            </a:r>
            <a:r>
              <a:rPr lang="en-US" sz="2000" dirty="0">
                <a:latin typeface="Times New Roman"/>
                <a:cs typeface="Times New Roman"/>
              </a:rPr>
              <a:t> Eliminates cables for a cleaner setup.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Energy Efficiency:</a:t>
            </a:r>
            <a:r>
              <a:rPr lang="en-US" sz="2000" dirty="0">
                <a:latin typeface="Times New Roman"/>
                <a:cs typeface="Times New Roman"/>
              </a:rPr>
              <a:t> BLE ensures long battery life for devices.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Global Standard:</a:t>
            </a:r>
            <a:r>
              <a:rPr lang="en-US" sz="2000" dirty="0">
                <a:latin typeface="Times New Roman"/>
                <a:cs typeface="Times New Roman"/>
              </a:rPr>
              <a:t> Works across devices from different manufacturers.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Scalability:</a:t>
            </a:r>
            <a:r>
              <a:rPr lang="en-US" sz="2000" dirty="0">
                <a:latin typeface="Times New Roman"/>
                <a:cs typeface="Times New Roman"/>
              </a:rPr>
              <a:t> Supports small networks (piconets) and large IoT systems (mesh).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F9689-1605-239B-86EC-4E7BBEF1D977}"/>
              </a:ext>
            </a:extLst>
          </p:cNvPr>
          <p:cNvSpPr txBox="1"/>
          <p:nvPr/>
        </p:nvSpPr>
        <p:spPr>
          <a:xfrm>
            <a:off x="-2209" y="2430387"/>
            <a:ext cx="12196417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Limitations of Bluetooth:</a:t>
            </a:r>
            <a:endParaRPr lang="en-US" sz="2200" b="1" dirty="0">
              <a:latin typeface="Times New Roman"/>
              <a:cs typeface="Times New Roman"/>
            </a:endParaRP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Limited Range:</a:t>
            </a:r>
            <a:r>
              <a:rPr lang="en-US" sz="2000" dirty="0">
                <a:latin typeface="Times New Roman"/>
                <a:cs typeface="Times New Roman"/>
              </a:rPr>
              <a:t> Best suited for short distances.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Connection Limit:</a:t>
            </a:r>
            <a:r>
              <a:rPr lang="en-US" sz="2000" dirty="0">
                <a:latin typeface="Times New Roman"/>
                <a:cs typeface="Times New Roman"/>
              </a:rPr>
              <a:t> Only 7 active devices per piconet.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Interference:</a:t>
            </a:r>
            <a:r>
              <a:rPr lang="en-US" sz="2000" dirty="0">
                <a:latin typeface="Times New Roman"/>
                <a:cs typeface="Times New Roman"/>
              </a:rPr>
              <a:t> Shares spectrum with other technologies like Wi-Fi.</a:t>
            </a:r>
          </a:p>
          <a:p>
            <a:pPr>
              <a:buFont typeface=""/>
              <a:buAutoNum type="arabicPeriod"/>
            </a:pPr>
            <a:r>
              <a:rPr lang="en-US" sz="2000" b="1" dirty="0">
                <a:latin typeface="Times New Roman"/>
                <a:cs typeface="Times New Roman"/>
              </a:rPr>
              <a:t>Data Rate:</a:t>
            </a:r>
            <a:r>
              <a:rPr lang="en-US" sz="2000" dirty="0">
                <a:latin typeface="Times New Roman"/>
                <a:cs typeface="Times New Roman"/>
              </a:rPr>
              <a:t> Not ideal for high-bandwidth applications like streaming HD video.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27CB3-68F5-7880-D239-7B375D6306A0}"/>
              </a:ext>
            </a:extLst>
          </p:cNvPr>
          <p:cNvSpPr txBox="1"/>
          <p:nvPr/>
        </p:nvSpPr>
        <p:spPr>
          <a:xfrm>
            <a:off x="-2208" y="4764860"/>
            <a:ext cx="12196416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u="sng" dirty="0">
                <a:latin typeface="Times New Roman"/>
                <a:cs typeface="Times New Roman"/>
              </a:rPr>
              <a:t>Future of Bluetooth in Distributed Systems:</a:t>
            </a:r>
          </a:p>
          <a:p>
            <a:pPr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Advancements in IoT:</a:t>
            </a:r>
            <a:r>
              <a:rPr lang="en-US" sz="2000" dirty="0">
                <a:latin typeface="Times New Roman"/>
                <a:cs typeface="Times New Roman"/>
              </a:rPr>
              <a:t> Supporting more connected devices with improved power efficiency.</a:t>
            </a:r>
          </a:p>
          <a:p>
            <a:pPr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Enhanced Range and Speed:</a:t>
            </a:r>
            <a:r>
              <a:rPr lang="en-US" sz="2000" dirty="0">
                <a:latin typeface="Times New Roman"/>
                <a:cs typeface="Times New Roman"/>
              </a:rPr>
              <a:t> Bluetooth 5+ is bridging the gap with technologies like Wi-Fi.</a:t>
            </a:r>
          </a:p>
          <a:p>
            <a:pPr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Focus on Security:</a:t>
            </a:r>
            <a:r>
              <a:rPr lang="en-US" sz="2000" dirty="0">
                <a:latin typeface="Times New Roman"/>
                <a:cs typeface="Times New Roman"/>
              </a:rPr>
              <a:t> New standards are addressing vulnerabilities in pairing and encryption.</a:t>
            </a:r>
          </a:p>
          <a:p>
            <a:pPr>
              <a:buFont typeface=""/>
              <a:buChar char="•"/>
            </a:pPr>
            <a:r>
              <a:rPr lang="en-US" sz="2000" b="1" dirty="0">
                <a:latin typeface="Times New Roman"/>
                <a:cs typeface="Times New Roman"/>
              </a:rPr>
              <a:t>Integration with AI:</a:t>
            </a:r>
            <a:r>
              <a:rPr lang="en-US" sz="2000" dirty="0">
                <a:latin typeface="Times New Roman"/>
                <a:cs typeface="Times New Roman"/>
              </a:rPr>
              <a:t> Smarter devices using Bluetooth to automate tasks and improve performance.</a:t>
            </a:r>
          </a:p>
        </p:txBody>
      </p:sp>
    </p:spTree>
    <p:extLst>
      <p:ext uri="{BB962C8B-B14F-4D97-AF65-F5344CB8AC3E}">
        <p14:creationId xmlns:p14="http://schemas.microsoft.com/office/powerpoint/2010/main" val="976876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284</cp:revision>
  <dcterms:created xsi:type="dcterms:W3CDTF">2025-01-11T08:24:16Z</dcterms:created>
  <dcterms:modified xsi:type="dcterms:W3CDTF">2025-01-14T07:41:41Z</dcterms:modified>
</cp:coreProperties>
</file>